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3128B-6A73-3FD6-DEC1-DF3AE51AB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A82F8-667A-5A39-FBE5-3B7F166DC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2CFDC-FE60-144B-E1F4-05581445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7606A-B4ED-EC05-1C59-72CA6B38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B4B5D-452A-78D2-A2BF-EA63A513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08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2553-C17A-18EB-25A0-A3BAAC8C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3F09B-9AE3-0FDD-060F-1D27F99C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71EAA-B31B-031E-A379-088F3DFDD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4B38A-AC97-7D52-0CD5-CA5EF215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74B58-001C-6603-1B52-B7F9914A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5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97FC5-83BB-B4A3-33CC-43B30798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1479C-D5FD-0787-B891-BB5BD20CC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04438-5A15-BE39-37DB-CF184201B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C140D-C758-6B44-D3B3-F0C51ED38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897CD-5700-7C44-1E19-F1F7C8FC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48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CA1C-F16F-3FE1-59BB-A25741DC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3474F-199A-AD60-542F-68D672F1E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7E643-3F6E-72CA-39E9-903892671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B0469-455F-889B-F349-CCDD6669E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FAD46-2815-CC81-F9A6-4901037B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36006-493F-4B0E-D547-404650C7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548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8BF8-6146-9F4D-F51D-B422C45F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BC6E6-0960-7790-E3BB-47516512E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3406E-732A-1A6F-9F74-F5A32FA2E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4FF44-0791-2E18-C7DC-B3089635C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85FDA-DC23-5D6D-C0EE-DBF486E5E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195A7-ED8B-69B0-A032-B304A0FBE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A7CF6-29A6-1030-4E0B-D6656B17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9B7F7-539D-24CB-6BC7-3C0DECEE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796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E249D-9138-A63A-97B2-A70FBDB7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C1725-FB59-F938-05AA-72E17AFA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E1126-6812-F238-F7E9-0FD1E04D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7DA4A-9293-60BE-2415-F5964705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63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95950-3DFD-0F6C-A924-D882CF0E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D4B5ED-FF9A-519F-A29B-FF51EB382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DE8EC-E52E-C7CB-A0DB-77CB8D11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4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646EE-D94F-8513-9D2B-D7DBB336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5FAE5-962B-AE18-9B46-368ED2FEA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CE3A3-673D-0A17-8E39-34C8B3E0C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A8456-9075-336B-D70E-8F7E7D8C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B203F-1458-FB0F-EA35-75F4B832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7D6DF-E27A-F692-4BCE-5066B244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24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94BE-7858-7C5D-4316-31D1229C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6872D-2D19-DAC9-A96B-30595CD3AF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CE5B8-265B-D604-DEAC-B331C1B7F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57EB1-0B97-41EA-654F-3E84161C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6CD3D-08D6-B478-D9EC-677E9E36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2926C-3D6D-0080-E646-3F5CC613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5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89A5-DBD8-1FBF-5B21-C857222F5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CCA34-1444-75A7-6507-8F6D48111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4F847-125C-8E44-223D-9CAA4EAE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E444-3BD9-4499-7EA9-7F736638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9DB4A-805D-ED72-5653-9C1E00B05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59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92B0A-4DBF-65B6-5856-6A0E80D95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C9C4B-1B69-D750-13CE-41B066AA16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95487-6F6F-D4DF-9FFC-B00D7C7A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F57E4-DEC6-B3E0-A68E-829B3925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3AB4C-BB39-F685-12F1-390AB0D4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298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970E4-956A-1EAF-1136-8E2B06A1D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01E8B-1FBB-0720-5412-F374F8FFE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71D66-2AB9-91FF-78CE-541044EFA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2B581-D33E-42D5-8EFB-1227742C9EBA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3E571-7438-6261-5627-7E68915AA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7FB1B-D7B1-066C-61AD-0F5ED5560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6A6D2-E2B6-4D7F-8742-4FE90B9E51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017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9C84E-7F24-580E-C5FD-0F222CA7C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9148" y="-549275"/>
            <a:ext cx="4928387" cy="57639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EstateIQ</a:t>
            </a: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AI</a:t>
            </a:r>
            <a:b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200" b="1" i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Intelligent Real Estate Price Exploration Tool</a:t>
            </a:r>
            <a:b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AA3C8-EEEB-6CA5-7346-B075A8725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1252" y="365125"/>
            <a:ext cx="5181600" cy="280629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/>
              <a:t>Guide:</a:t>
            </a:r>
            <a:br>
              <a:rPr lang="en-US" sz="1700"/>
            </a:br>
            <a:r>
              <a:rPr lang="en-US" sz="1700"/>
              <a:t>Dr . Sunanda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/>
              <a:t>Institution:</a:t>
            </a:r>
            <a:br>
              <a:rPr lang="en-US" sz="1700"/>
            </a:br>
            <a:r>
              <a:rPr lang="en-US" sz="1700"/>
              <a:t>KLH University, Bachupally, Hyderabad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700" b="1"/>
              <a:t>Domain:</a:t>
            </a:r>
            <a:br>
              <a:rPr lang="en-US" sz="1700"/>
            </a:br>
            <a:r>
              <a:rPr lang="en-US" sz="1700"/>
              <a:t>Data Science | Exploratory Data Analysis | Real Estate Analytics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40546-BF47-6A38-176D-35486C86AC7E}"/>
              </a:ext>
            </a:extLst>
          </p:cNvPr>
          <p:cNvSpPr txBox="1"/>
          <p:nvPr/>
        </p:nvSpPr>
        <p:spPr>
          <a:xfrm>
            <a:off x="6191252" y="3322791"/>
            <a:ext cx="5181600" cy="2806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Team Members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K. Nishmitha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Ammana Aditi Reddy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Aenugu Prachetha Reddy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3507D-C2A5-D712-77A0-DE80BFF52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07" y="3681590"/>
            <a:ext cx="4278086" cy="280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38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E6503F-977D-F259-CC48-B87720224179}"/>
              </a:ext>
            </a:extLst>
          </p:cNvPr>
          <p:cNvSpPr txBox="1"/>
          <p:nvPr/>
        </p:nvSpPr>
        <p:spPr>
          <a:xfrm>
            <a:off x="290422" y="243512"/>
            <a:ext cx="11611155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What is EstateIQ AI?</a:t>
            </a:r>
          </a:p>
          <a:p>
            <a:pPr lvl="0"/>
            <a:r>
              <a:rPr lang="en-GB" sz="2400" dirty="0"/>
              <a:t>EstateIQ AI is a </a:t>
            </a:r>
            <a:r>
              <a:rPr lang="en-GB" sz="2400" b="1" dirty="0"/>
              <a:t>data-driven real estate price exploration tool</a:t>
            </a:r>
            <a:r>
              <a:rPr lang="en-GB" sz="2400" dirty="0"/>
              <a:t>. </a:t>
            </a:r>
          </a:p>
          <a:p>
            <a:pPr lvl="0"/>
            <a:r>
              <a:rPr lang="en-GB" sz="2400" dirty="0"/>
              <a:t>It analyzes property prices across </a:t>
            </a:r>
            <a:r>
              <a:rPr lang="en-GB" sz="2400" b="1" dirty="0"/>
              <a:t>cities and localities</a:t>
            </a:r>
            <a:r>
              <a:rPr lang="en-GB" sz="2400" dirty="0"/>
              <a:t>. </a:t>
            </a:r>
          </a:p>
          <a:p>
            <a:pPr lvl="0"/>
            <a:r>
              <a:rPr lang="en-GB" sz="2400" dirty="0"/>
              <a:t>The system studies factors such as: </a:t>
            </a:r>
          </a:p>
          <a:p>
            <a:pPr lvl="1"/>
            <a:r>
              <a:rPr lang="en-GB" sz="2400" dirty="0"/>
              <a:t>📍 Location &amp; Locality </a:t>
            </a:r>
          </a:p>
          <a:p>
            <a:pPr lvl="1"/>
            <a:r>
              <a:rPr lang="en-GB" sz="2400" dirty="0"/>
              <a:t>🏠 Property Type </a:t>
            </a:r>
          </a:p>
          <a:p>
            <a:pPr lvl="1"/>
            <a:r>
              <a:rPr lang="en-GB" sz="2400" dirty="0"/>
              <a:t>📐 Area / Size </a:t>
            </a:r>
          </a:p>
          <a:p>
            <a:pPr lvl="1"/>
            <a:r>
              <a:rPr lang="en-GB" sz="2400" dirty="0"/>
              <a:t>🛏️ Number of Bedrooms </a:t>
            </a:r>
          </a:p>
          <a:p>
            <a:pPr lvl="1"/>
            <a:r>
              <a:rPr lang="en-GB" sz="2400" dirty="0"/>
              <a:t>🛁 Bathrooms </a:t>
            </a:r>
          </a:p>
          <a:p>
            <a:pPr lvl="1"/>
            <a:r>
              <a:rPr lang="en-GB" sz="2400" dirty="0"/>
              <a:t>⭐ Amenities </a:t>
            </a:r>
          </a:p>
          <a:p>
            <a:pPr lvl="1"/>
            <a:r>
              <a:rPr lang="en-GB" sz="2400" dirty="0"/>
              <a:t>💰 Property Price </a:t>
            </a:r>
          </a:p>
          <a:p>
            <a:pPr lvl="0"/>
            <a:r>
              <a:rPr lang="en-GB" sz="2400" b="1" dirty="0"/>
              <a:t>EDA and data visualization</a:t>
            </a:r>
            <a:r>
              <a:rPr lang="en-GB" sz="2400" dirty="0"/>
              <a:t> are used to discover meaningful price patterns. </a:t>
            </a:r>
          </a:p>
          <a:p>
            <a:pPr lvl="0"/>
            <a:r>
              <a:rPr lang="en-GB" sz="2400" dirty="0"/>
              <a:t>The results are presented through </a:t>
            </a:r>
            <a:r>
              <a:rPr lang="en-GB" sz="2400" b="1" dirty="0"/>
              <a:t>clear and interactive visualizations</a:t>
            </a:r>
            <a:r>
              <a:rPr lang="en-GB" sz="2400" dirty="0"/>
              <a:t>.</a:t>
            </a:r>
          </a:p>
          <a:p>
            <a:pPr lvl="0"/>
            <a:endParaRPr lang="en-GB" sz="2400" dirty="0"/>
          </a:p>
          <a:p>
            <a:pPr lvl="0"/>
            <a:endParaRPr lang="en-GB" sz="2400" dirty="0"/>
          </a:p>
          <a:p>
            <a:pPr lvl="0"/>
            <a:r>
              <a:rPr lang="en-GB" sz="2400" dirty="0"/>
              <a:t> </a:t>
            </a:r>
            <a:r>
              <a:rPr lang="en-GB" sz="2400" b="1" dirty="0"/>
              <a:t>Main Idea:</a:t>
            </a:r>
          </a:p>
          <a:p>
            <a:r>
              <a:rPr lang="en-GB" sz="2400" dirty="0"/>
              <a:t>Raw Real Estate Data → EDA → Price Analysis → Visualization → Insights</a:t>
            </a:r>
            <a:endParaRPr lang="en-GB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8DC3C-7867-2CB0-7116-EB2DF7580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037" y="243512"/>
            <a:ext cx="2552140" cy="36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5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78897-5226-9923-B0C8-493F456DC39F}"/>
              </a:ext>
            </a:extLst>
          </p:cNvPr>
          <p:cNvSpPr txBox="1"/>
          <p:nvPr/>
        </p:nvSpPr>
        <p:spPr>
          <a:xfrm>
            <a:off x="155275" y="155276"/>
            <a:ext cx="12036725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Problem Statement</a:t>
            </a:r>
          </a:p>
          <a:p>
            <a:r>
              <a:rPr lang="en-GB" sz="2400" dirty="0"/>
              <a:t>Real estate datasets contain large amounts of information about properties, locations, and prices, making it difficult to identify meaningful price patterns using raw tables alone.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b="1" dirty="0"/>
              <a:t>Key Problems:</a:t>
            </a:r>
            <a:endParaRPr lang="en-GB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Property prices vary significantly across </a:t>
            </a:r>
            <a:r>
              <a:rPr lang="en-GB" sz="2400" b="1" dirty="0"/>
              <a:t>locations and localities</a:t>
            </a:r>
            <a:r>
              <a:rPr lang="en-GB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Multiple property attributes influence price differences.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Comparing properties manually is </a:t>
            </a:r>
            <a:r>
              <a:rPr lang="en-GB" sz="2400" b="1" dirty="0"/>
              <a:t>time-consuming</a:t>
            </a:r>
            <a:r>
              <a:rPr lang="en-GB" sz="24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Raw datasets are difficult for users to interpret.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400" dirty="0"/>
              <a:t>Existing information may not provide a </a:t>
            </a:r>
            <a:r>
              <a:rPr lang="en-GB" sz="2400" b="1" dirty="0"/>
              <a:t>single, easy-to-understand analytical view</a:t>
            </a:r>
            <a:r>
              <a:rPr lang="en-GB" sz="2400" dirty="0"/>
              <a:t> of price patterns.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b="1" dirty="0"/>
              <a:t>Problem Addressed</a:t>
            </a:r>
          </a:p>
          <a:p>
            <a:r>
              <a:rPr lang="en-GB" sz="2400" b="1" dirty="0"/>
              <a:t>How can real estate data be </a:t>
            </a:r>
            <a:r>
              <a:rPr lang="en-GB" sz="2400" b="1" dirty="0" err="1"/>
              <a:t>analyzed</a:t>
            </a:r>
            <a:r>
              <a:rPr lang="en-GB" sz="2400" b="1" dirty="0"/>
              <a:t> and visualized to help users understand price variations across locations and property characteristics?</a:t>
            </a:r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520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586787-8918-CF7B-7969-5AB54B7ECDC2}"/>
              </a:ext>
            </a:extLst>
          </p:cNvPr>
          <p:cNvSpPr txBox="1"/>
          <p:nvPr/>
        </p:nvSpPr>
        <p:spPr>
          <a:xfrm>
            <a:off x="152400" y="172529"/>
            <a:ext cx="118872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Why Real Estate Price Analysis?</a:t>
            </a:r>
          </a:p>
          <a:p>
            <a:endParaRPr lang="en-GB" sz="2800" b="1" dirty="0"/>
          </a:p>
          <a:p>
            <a:r>
              <a:rPr lang="en-GB" sz="2800" b="1" dirty="0"/>
              <a:t>Real-World Relevance</a:t>
            </a:r>
            <a:endParaRPr lang="en-GB" sz="2800" dirty="0"/>
          </a:p>
          <a:p>
            <a:pPr lvl="0"/>
            <a:r>
              <a:rPr lang="en-GB" sz="2800" dirty="0"/>
              <a:t>Helps users understand </a:t>
            </a:r>
            <a:r>
              <a:rPr lang="en-GB" sz="2800" b="1" dirty="0"/>
              <a:t>price variations between localities</a:t>
            </a:r>
            <a:r>
              <a:rPr lang="en-GB" sz="2800" dirty="0"/>
              <a:t>. </a:t>
            </a:r>
          </a:p>
          <a:p>
            <a:pPr lvl="0"/>
            <a:r>
              <a:rPr lang="en-GB" sz="2800" dirty="0"/>
              <a:t>Supports comparison of properties based on </a:t>
            </a:r>
            <a:r>
              <a:rPr lang="en-GB" sz="2800" b="1" dirty="0"/>
              <a:t>size, bedrooms, type and amenities</a:t>
            </a:r>
            <a:r>
              <a:rPr lang="en-GB" sz="2800" dirty="0"/>
              <a:t>. </a:t>
            </a:r>
          </a:p>
          <a:p>
            <a:pPr lvl="0"/>
            <a:r>
              <a:rPr lang="en-GB" sz="2800" dirty="0"/>
              <a:t>Makes large real estate datasets easier to understand. </a:t>
            </a:r>
          </a:p>
          <a:p>
            <a:pPr lvl="0"/>
            <a:r>
              <a:rPr lang="en-GB" sz="2800" dirty="0"/>
              <a:t>Helps identify </a:t>
            </a:r>
            <a:r>
              <a:rPr lang="en-GB" sz="2800" b="1" dirty="0"/>
              <a:t>higher-priced and relatively lower-priced areas</a:t>
            </a:r>
            <a:r>
              <a:rPr lang="en-GB" sz="2800" dirty="0"/>
              <a:t>. </a:t>
            </a:r>
          </a:p>
          <a:p>
            <a:pPr lvl="0"/>
            <a:r>
              <a:rPr lang="en-GB" sz="2800" dirty="0"/>
              <a:t>Provides data-driven insights for exploring the real estate market. </a:t>
            </a:r>
          </a:p>
          <a:p>
            <a:r>
              <a:rPr lang="en-GB" sz="2800" b="1" dirty="0"/>
              <a:t>Motivation</a:t>
            </a:r>
          </a:p>
          <a:p>
            <a:r>
              <a:rPr lang="en-GB" sz="2800" dirty="0"/>
              <a:t>Real estate decisions involve multiple factors, but raw property data does not provide an easy way to understand their combined relationship with price.</a:t>
            </a:r>
          </a:p>
          <a:p>
            <a:r>
              <a:rPr lang="en-GB" sz="2800" b="1" dirty="0"/>
              <a:t>EstateIQ AI aims to convert complex property data into simple, visual and understandable insights.</a:t>
            </a:r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8263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695177-219C-5271-2EE3-C4542C683595}"/>
              </a:ext>
            </a:extLst>
          </p:cNvPr>
          <p:cNvSpPr txBox="1"/>
          <p:nvPr/>
        </p:nvSpPr>
        <p:spPr>
          <a:xfrm>
            <a:off x="138022" y="0"/>
            <a:ext cx="11915955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Objectives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Analyse</a:t>
            </a:r>
            <a:r>
              <a:rPr lang="en-GB" sz="2800" dirty="0"/>
              <a:t> real estate prices across different cities and localities.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Study</a:t>
            </a:r>
            <a:r>
              <a:rPr lang="en-GB" sz="2800" dirty="0"/>
              <a:t> the relationship between property area and price.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Analyse</a:t>
            </a:r>
            <a:r>
              <a:rPr lang="en-GB" sz="2800" dirty="0"/>
              <a:t> the relationship between bedrooms and property price.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Compare</a:t>
            </a:r>
            <a:r>
              <a:rPr lang="en-GB" sz="2800" dirty="0"/>
              <a:t> prices across different property types and locations.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Examine</a:t>
            </a:r>
            <a:r>
              <a:rPr lang="en-GB" sz="2800" dirty="0"/>
              <a:t> the influence of available property attributes and amenities on price.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Identify</a:t>
            </a:r>
            <a:r>
              <a:rPr lang="en-GB" sz="2800" dirty="0"/>
              <a:t> price patterns and trends using Exploratory Data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Develop</a:t>
            </a:r>
            <a:r>
              <a:rPr lang="en-GB" sz="2800" dirty="0"/>
              <a:t> clear and interactive visualizations for property-price exploration.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b="1" dirty="0"/>
              <a:t>Provide</a:t>
            </a:r>
            <a:r>
              <a:rPr lang="en-GB" sz="2800" dirty="0"/>
              <a:t> data-driven insights for easier comparison of real estate properties. </a:t>
            </a:r>
          </a:p>
          <a:p>
            <a:pPr lvl="0"/>
            <a:endParaRPr lang="en-GB" sz="2800" dirty="0"/>
          </a:p>
          <a:p>
            <a:r>
              <a:rPr lang="en-GB" sz="2800" b="1" dirty="0"/>
              <a:t>Expected Outcome</a:t>
            </a:r>
          </a:p>
          <a:p>
            <a:r>
              <a:rPr lang="en-GB" sz="2800" b="1" dirty="0"/>
              <a:t>An interactive analytical tool that transforms raw real estate data into understandable price insights</a:t>
            </a:r>
            <a:r>
              <a:rPr lang="en-GB" b="1" dirty="0"/>
              <a:t>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894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46A081-267B-D47E-8C32-29859A030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472033"/>
              </p:ext>
            </p:extLst>
          </p:nvPr>
        </p:nvGraphicFramePr>
        <p:xfrm>
          <a:off x="703053" y="1484106"/>
          <a:ext cx="1051560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7584842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36276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05239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Main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Limitation / 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554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Sirmans et al. (2005)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Hedonic pricing models and property characteristics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mainly on statistical 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664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Keskin (2008)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Housing prices and property characteristics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Market-specific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3386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Fotheringham et al. (2015)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Spatial and temporal variations in house prices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More focused on spatial modelling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322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Putatunda (2019)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Real estate pricing in the Indian market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on proactive pricing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59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Yazdani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ML, deep learning and hedonic 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Focuses more on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53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Rodriguez-Serrano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Explainable ML for real estate 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Requires predictive modelling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77682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F2CC452-EBB6-DB92-BB32-86D09450A7D2}"/>
              </a:ext>
            </a:extLst>
          </p:cNvPr>
          <p:cNvSpPr txBox="1"/>
          <p:nvPr/>
        </p:nvSpPr>
        <p:spPr>
          <a:xfrm>
            <a:off x="3743864" y="403523"/>
            <a:ext cx="809157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Literature Survey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014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1FC18B-60B1-1A1E-1BE0-00C9DC7BFD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69" b="69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9F8B4C6-046A-6DF0-00CA-1EE77A3FE6DD}"/>
              </a:ext>
            </a:extLst>
          </p:cNvPr>
          <p:cNvSpPr txBox="1"/>
          <p:nvPr/>
        </p:nvSpPr>
        <p:spPr>
          <a:xfrm>
            <a:off x="5868557" y="1131570"/>
            <a:ext cx="5444382" cy="501081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dirty="0"/>
              <a:t>Existing Systems / Approaches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72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1" dirty="0"/>
              <a:t>1. Traditional Property Listings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Display property details and prices.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Mainly focused on searching and browsing.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Limited analytical comparison.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1" dirty="0"/>
              <a:t>2. Statistical / Hedonic Pricing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Studies relationships between property characteristics and price.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Provides analytical valuation insights.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Can be difficult for non-technical users to interpret.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1" dirty="0"/>
              <a:t>3. Machine Learning-Based Prediction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Uses property features to predict prices.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Can model complex relationships.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Requires model training, validation and appropriate datasets.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b="1" dirty="0"/>
              <a:t>4. Static Data Analysis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Uses tables and individual graphs.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Useful for basic analysis. 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7200" dirty="0"/>
              <a:t>Requires manual comparison across multiple dimensions.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307642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50E639-D885-D9D4-9B16-217E6312FEDD}"/>
              </a:ext>
            </a:extLst>
          </p:cNvPr>
          <p:cNvSpPr txBox="1"/>
          <p:nvPr/>
        </p:nvSpPr>
        <p:spPr>
          <a:xfrm>
            <a:off x="120770" y="138022"/>
            <a:ext cx="1180093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Limitations of Existing Approaches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Information may be distributed across different views or systems.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Raw tables make </a:t>
            </a:r>
            <a:r>
              <a:rPr lang="en-GB" sz="2400" b="1" dirty="0"/>
              <a:t>multi-dimensional comparison difficult</a:t>
            </a:r>
            <a:r>
              <a:rPr lang="en-GB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Statistical approaches may require technical knowledge.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Prediction-focused systems emphasize estimated prices rather than </a:t>
            </a:r>
            <a:r>
              <a:rPr lang="en-GB" sz="2400" b="1" dirty="0"/>
              <a:t>exploring the underlying data patterns</a:t>
            </a:r>
            <a:r>
              <a:rPr lang="en-GB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Users may lack an easy visual way to compare </a:t>
            </a:r>
            <a:r>
              <a:rPr lang="en-GB" sz="2400" b="1" dirty="0"/>
              <a:t>localities, property types, area and bedrooms together</a:t>
            </a:r>
            <a:r>
              <a:rPr lang="en-GB" sz="2400" dirty="0"/>
              <a:t>. </a:t>
            </a:r>
          </a:p>
          <a:p>
            <a:pPr lvl="0"/>
            <a:endParaRPr lang="en-GB" sz="2400" dirty="0"/>
          </a:p>
          <a:p>
            <a:r>
              <a:rPr lang="en-GB" sz="2400" b="1" dirty="0"/>
              <a:t>Research Gap</a:t>
            </a:r>
          </a:p>
          <a:p>
            <a:r>
              <a:rPr lang="en-GB" sz="2400" dirty="0"/>
              <a:t>There is a need for a simple, reproducible and interactive approach that combines </a:t>
            </a:r>
            <a:r>
              <a:rPr lang="en-GB" sz="2400" b="1" dirty="0"/>
              <a:t>real estate EDA, locality comparison, property-feature analysis and visualization</a:t>
            </a:r>
            <a:r>
              <a:rPr lang="en-GB" sz="2400" dirty="0"/>
              <a:t> in one analytical workflow.</a:t>
            </a:r>
          </a:p>
          <a:p>
            <a:endParaRPr lang="en-GB" sz="2400" dirty="0"/>
          </a:p>
          <a:p>
            <a:r>
              <a:rPr lang="en-GB" sz="2400" b="1" dirty="0"/>
              <a:t>How EstateIQ AI Addresses the Gap</a:t>
            </a:r>
          </a:p>
          <a:p>
            <a:r>
              <a:rPr lang="en-GB" sz="2400" b="1" dirty="0"/>
              <a:t>EstateIQ AI combines:</a:t>
            </a:r>
            <a:endParaRPr lang="en-GB" sz="2400" dirty="0"/>
          </a:p>
          <a:p>
            <a:r>
              <a:rPr lang="en-GB" sz="2400" b="1" dirty="0"/>
              <a:t>Data Preprocessing → EDA → Price &amp; Location Analysis → Visualization → Interactive Exploration → Insights</a:t>
            </a:r>
            <a:endParaRPr lang="en-GB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62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BAA94-E330-80C8-1F85-947E4DDE4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21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9A32DADC2E74DB20F7BF220550497" ma:contentTypeVersion="6" ma:contentTypeDescription="Create a new document." ma:contentTypeScope="" ma:versionID="2f8ebc87a1e6e0e7cdc1f752a3594c35">
  <xsd:schema xmlns:xsd="http://www.w3.org/2001/XMLSchema" xmlns:xs="http://www.w3.org/2001/XMLSchema" xmlns:p="http://schemas.microsoft.com/office/2006/metadata/properties" xmlns:ns3="1629afc8-b7ba-46b2-be2a-be790e937813" targetNamespace="http://schemas.microsoft.com/office/2006/metadata/properties" ma:root="true" ma:fieldsID="5d07247fc83937f9d8dd05cd709d3a4e" ns3:_="">
    <xsd:import namespace="1629afc8-b7ba-46b2-be2a-be790e93781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9afc8-b7ba-46b2-be2a-be790e93781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29afc8-b7ba-46b2-be2a-be790e937813" xsi:nil="true"/>
  </documentManagement>
</p:properties>
</file>

<file path=customXml/itemProps1.xml><?xml version="1.0" encoding="utf-8"?>
<ds:datastoreItem xmlns:ds="http://schemas.openxmlformats.org/officeDocument/2006/customXml" ds:itemID="{955CB538-F6B0-4A10-9387-734A07C7FB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29afc8-b7ba-46b2-be2a-be790e9378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01C96DC-D780-418C-9189-5D82774922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31AC28-260B-4C76-BE90-7A84CA65A666}">
  <ds:schemaRefs>
    <ds:schemaRef ds:uri="http://schemas.microsoft.com/office/2006/metadata/properties"/>
    <ds:schemaRef ds:uri="http://schemas.microsoft.com/office/infopath/2007/PartnerControls"/>
    <ds:schemaRef ds:uri="1629afc8-b7ba-46b2-be2a-be790e9378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761</Words>
  <Application>Microsoft Office PowerPoint</Application>
  <PresentationFormat>Widescreen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EstateIQ AI Intelligent Real Estate Price Exploration Tool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AMMANA ADITI REDDY 2420030439</dc:creator>
  <cp:lastModifiedBy>AMMANA ADITI REDDY 2420030439</cp:lastModifiedBy>
  <cp:revision>1</cp:revision>
  <dcterms:created xsi:type="dcterms:W3CDTF">2026-09-30T05:33:46Z</dcterms:created>
  <dcterms:modified xsi:type="dcterms:W3CDTF">2026-09-30T05:47:19Z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0x0101001049A32DADC2E74DB20F7BF220550497</vt:lpwstr>
  </property>
</Properties>
</file>